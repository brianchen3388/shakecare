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3d924eabc4b99" /><Relationship Type="http://schemas.openxmlformats.org/officeDocument/2006/relationships/extended-properties" Target="/docProps/app.xml" Id="Re9d244b8b1ed48f4" /><Relationship Type="http://schemas.openxmlformats.org/officeDocument/2006/relationships/officeDocument" Target="/ppt/presentation.xml" Id="Rba5c776f5bbb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3ea9936a8b4417"/>
  </p:sldMasterIdLst>
  <p:notesMasterIdLst>
    <p:notesMasterId xmlns:r="http://schemas.openxmlformats.org/officeDocument/2006/relationships" r:id="Rb300f510e1a24805"/>
  </p:notesMasterIdLst>
  <p:sldIdLst>
    <p:sldId xmlns:r="http://schemas.openxmlformats.org/officeDocument/2006/relationships" id="256" r:id="R65e7ca9095804eac"/>
    <p:sldId xmlns:r="http://schemas.openxmlformats.org/officeDocument/2006/relationships" id="257" r:id="Rcc1e91bdcc1e4858"/>
    <p:sldId xmlns:r="http://schemas.openxmlformats.org/officeDocument/2006/relationships" id="258" r:id="R36dfd6a2f3d84861"/>
    <p:sldId xmlns:r="http://schemas.openxmlformats.org/officeDocument/2006/relationships" id="259" r:id="Rb52ac836234142a0"/>
    <p:sldId xmlns:r="http://schemas.openxmlformats.org/officeDocument/2006/relationships" id="260" r:id="R3c20d384534b465f"/>
    <p:sldId xmlns:r="http://schemas.openxmlformats.org/officeDocument/2006/relationships" id="261" r:id="Ra71c44f075f74ddc"/>
    <p:sldId xmlns:r="http://schemas.openxmlformats.org/officeDocument/2006/relationships" id="262" r:id="R338ff3d06f7e44c9"/>
    <p:sldId xmlns:r="http://schemas.openxmlformats.org/officeDocument/2006/relationships" id="263" r:id="Rec754df3c43d493c"/>
    <p:sldId xmlns:r="http://schemas.openxmlformats.org/officeDocument/2006/relationships" id="264" r:id="R24352593872a45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5213a8fe04931" /><Relationship Type="http://schemas.openxmlformats.org/officeDocument/2006/relationships/slideMaster" Target="/ppt/slideMasters/slideMaster1.xml" Id="R163ea9936a8b4417" /><Relationship Type="http://schemas.openxmlformats.org/officeDocument/2006/relationships/notesMaster" Target="/ppt/notesMasters/notesMaster1.xml" Id="Rb300f510e1a24805" /><Relationship Type="http://schemas.openxmlformats.org/officeDocument/2006/relationships/presProps" Target="/ppt/presProps.xml" Id="R77d4d55bd9b04403" /><Relationship Type="http://schemas.openxmlformats.org/officeDocument/2006/relationships/tableStyles" Target="/ppt/tableStyles.xml" Id="Rb9e01071901c4f5f" /><Relationship Type="http://schemas.openxmlformats.org/officeDocument/2006/relationships/slide" Target="/ppt/slides/slide1.xml" Id="R65e7ca9095804eac" /><Relationship Type="http://schemas.openxmlformats.org/officeDocument/2006/relationships/slide" Target="/ppt/slides/slide2.xml" Id="Rcc1e91bdcc1e4858" /><Relationship Type="http://schemas.openxmlformats.org/officeDocument/2006/relationships/slide" Target="/ppt/slides/slide3.xml" Id="R36dfd6a2f3d84861" /><Relationship Type="http://schemas.openxmlformats.org/officeDocument/2006/relationships/slide" Target="/ppt/slides/slide4.xml" Id="Rb52ac836234142a0" /><Relationship Type="http://schemas.openxmlformats.org/officeDocument/2006/relationships/slide" Target="/ppt/slides/slide5.xml" Id="R3c20d384534b465f" /><Relationship Type="http://schemas.openxmlformats.org/officeDocument/2006/relationships/slide" Target="/ppt/slides/slide6.xml" Id="Ra71c44f075f74ddc" /><Relationship Type="http://schemas.openxmlformats.org/officeDocument/2006/relationships/slide" Target="/ppt/slides/slide7.xml" Id="R338ff3d06f7e44c9" /><Relationship Type="http://schemas.openxmlformats.org/officeDocument/2006/relationships/slide" Target="/ppt/slides/slide8.xml" Id="Rec754df3c43d493c" /><Relationship Type="http://schemas.openxmlformats.org/officeDocument/2006/relationships/slide" Target="/ppt/slides/slide9.xml" Id="R24352593872a45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de8c8650c3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74eb9f2b04651" /><Relationship Type="http://schemas.openxmlformats.org/officeDocument/2006/relationships/notesMaster" Target="/ppt/notesMasters/notesMaster1.xml" Id="R15a8047a769f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0498de4504385" /><Relationship Type="http://schemas.openxmlformats.org/officeDocument/2006/relationships/notesMaster" Target="/ppt/notesMasters/notesMaster1.xml" Id="R97b5c4e9435a43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9f7880bda499f" /><Relationship Type="http://schemas.openxmlformats.org/officeDocument/2006/relationships/notesMaster" Target="/ppt/notesMasters/notesMaster1.xml" Id="R934aa3afd891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8623f23f1449e3" /><Relationship Type="http://schemas.openxmlformats.org/officeDocument/2006/relationships/notesMaster" Target="/ppt/notesMasters/notesMaster1.xml" Id="Rc909824c7427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fb0bc12f64310" /><Relationship Type="http://schemas.openxmlformats.org/officeDocument/2006/relationships/notesMaster" Target="/ppt/notesMasters/notesMaster1.xml" Id="R4dcf276f32f6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6cef36c96b4af6" /><Relationship Type="http://schemas.openxmlformats.org/officeDocument/2006/relationships/notesMaster" Target="/ppt/notesMasters/notesMaster1.xml" Id="R42667283de22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260b6263a94b78" /><Relationship Type="http://schemas.openxmlformats.org/officeDocument/2006/relationships/notesMaster" Target="/ppt/notesMasters/notesMaster1.xml" Id="R4d77d1bd7d9540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33a4a3a2041fc" /><Relationship Type="http://schemas.openxmlformats.org/officeDocument/2006/relationships/notesMaster" Target="/ppt/notesMasters/notesMaster1.xml" Id="R85d407c4446045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80353c335a4e78" /><Relationship Type="http://schemas.openxmlformats.org/officeDocument/2006/relationships/notesMaster" Target="/ppt/notesMasters/notesMaster1.xml" Id="Rfff50efdd6eb43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8ed3ad6674f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4d0012bc046ed" /><Relationship Type="http://schemas.openxmlformats.org/officeDocument/2006/relationships/slideLayout" Target="/ppt/slideLayouts/slideLayout1.xml" Id="Rdf95ea56b06b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5ea56b06b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2b97291874953" /><Relationship Type="http://schemas.openxmlformats.org/officeDocument/2006/relationships/image" Target="/ppt/media/image.png" Id="Re5c663006b09467c" /><Relationship Type="http://schemas.openxmlformats.org/officeDocument/2006/relationships/notesSlide" Target="/ppt/notesSlides/notesSlide1.xml" Id="Rdcbbe71258034c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94d2288eb4d61" /><Relationship Type="http://schemas.openxmlformats.org/officeDocument/2006/relationships/notesSlide" Target="/ppt/notesSlides/notesSlide2.xml" Id="Refda6d716d3e43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d664312b84ffd" /><Relationship Type="http://schemas.openxmlformats.org/officeDocument/2006/relationships/notesSlide" Target="/ppt/notesSlides/notesSlide3.xml" Id="Rd561049116d4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4aa62a0a43ba" /><Relationship Type="http://schemas.openxmlformats.org/officeDocument/2006/relationships/notesSlide" Target="/ppt/notesSlides/notesSlide4.xml" Id="Ra1449da50b46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b619453754ea1" /><Relationship Type="http://schemas.openxmlformats.org/officeDocument/2006/relationships/notesSlide" Target="/ppt/notesSlides/notesSlide5.xml" Id="R40dc0be01aa24a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844d8004c4200" /><Relationship Type="http://schemas.openxmlformats.org/officeDocument/2006/relationships/notesSlide" Target="/ppt/notesSlides/notesSlide6.xml" Id="Ref5c8d40454c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858238af24b68" /><Relationship Type="http://schemas.openxmlformats.org/officeDocument/2006/relationships/notesSlide" Target="/ppt/notesSlides/notesSlide7.xml" Id="R9022d18eceed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c51aa0e8a4eea" /><Relationship Type="http://schemas.openxmlformats.org/officeDocument/2006/relationships/notesSlide" Target="/ppt/notesSlides/notesSlide8.xml" Id="R1c2cb1aa874f48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09e326e5942ca" /><Relationship Type="http://schemas.openxmlformats.org/officeDocument/2006/relationships/notesSlide" Target="/ppt/notesSlides/notesSlide9.xml" Id="R836e6714f24b40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663006b09467c"/>
          <a:srcRect xmlns:a="http://schemas.openxmlformats.org/drawingml/2006/main" l="23423" t="0" r="23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1BDD4-6267-49CE-8DDF-5AD042DD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C06D0-D5BF-4247-B182-7FA5A1B8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89DD9-88BF-4B5A-A6D5-D0B9DBA4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05D"/>
                </a:solidFill>
              </a:defRPr>
            </a:pPr>
            <a:r>
              <a:rPr sz="1350" b="1">
                <a:solidFill>
                  <a:srgbClr val="16A05D"/>
                </a:solidFill>
              </a:rPr>
              <a:t>ELDER CARE WEARABLE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A4162-59F8-483F-B832-5202C1D4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4201A"/>
                </a:solidFill>
              </a:defRPr>
            </a:pPr>
            <a:r>
              <a:rPr sz="5400" b="1">
                <a:solidFill>
                  <a:srgbClr val="14201A"/>
                </a:solidFill>
              </a:rPr>
              <a:t>ShakeCare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8B0C5-8838-479D-A578-C9ED647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17168"/>
                </a:solidFill>
              </a:defRPr>
            </a:pPr>
            <a:r>
              <a:rPr sz="2100" b="0">
                <a:solidFill>
                  <a:srgbClr val="617168"/>
                </a:solidFill>
              </a:rPr>
              <a:t>The wristband that turns a fall, a freeze, or a desperate shake into a visible call for help.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B9F19-2421-4033-A0A2-C49D5B4D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95761-4A65-4020-A8D5-1A5C81A2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679E0-5644-45B6-B548-B942C094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E8546-4DF4-4729-915D-2CF7993C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1A"/>
                </a:solidFill>
              </a:defRPr>
            </a:pPr>
            <a:r>
              <a:rPr sz="1800" b="1">
                <a:solidFill>
                  <a:srgbClr val="14201A"/>
                </a:solidFill>
              </a:rPr>
              <a:t>Green means safe. Yellow means watch. Red means act.</a:t>
            </a:r>
          </a:p>
        </p:txBody>
      </p:sp>
    </p:spTree>
    <p:extLst>
      <p:ext uri="{BB962C8B-B14F-4D97-AF65-F5344CB8AC3E}">
        <p14:creationId xmlns:p14="http://schemas.microsoft.com/office/powerpoint/2010/main" val="1478534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58B69-807B-44DE-ADBF-1104843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The danger is not only the fall.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0D50D-5C8C-432D-8A20-859CB797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It is the silent minutes after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74927-F2A6-4A30-94C0-BEE2979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857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D5394-D228-4C0E-8BF3-E215CCC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A phone is across the room.</a:t>
            </a:r>
          </a:p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A button is out of reach.</a:t>
            </a:r>
          </a:p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A camera feels too invasive.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12266-1122-4FB7-95C8-2AE52B6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00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9B41E-63E8-4F05-90AA-0D371E38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051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4A43"/>
                </a:solidFill>
              </a:defRPr>
            </a:pPr>
            <a:r>
              <a:rPr sz="2250" b="1">
                <a:solidFill>
                  <a:srgbClr val="D84A43"/>
                </a:solidFill>
              </a:rPr>
              <a:t>ShakeCare watches for the moments when older adults cannot explain what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CC287-FA27-4996-842A-3828AFC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2</a:t>
            </a:r>
          </a:p>
        </p:txBody>
      </p:sp>
    </p:spTree>
    <p:extLst>
      <p:ext uri="{BB962C8B-B14F-4D97-AF65-F5344CB8AC3E}">
        <p14:creationId xmlns:p14="http://schemas.microsoft.com/office/powerpoint/2010/main" val="1725293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2A271-48CF-479F-BF7A-B35E1FE7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ShakeCare makes distress obvious.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EB674-20DB-496E-A759-1739052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A simple product loop that works before the phone call happens.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F612E-57CD-4099-94E6-10BDA5AF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9ADF8-8354-47C9-814C-6B1B81C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05D"/>
                </a:solidFill>
              </a:defRPr>
            </a:pPr>
            <a:r>
              <a:rPr sz="2025" b="1">
                <a:solidFill>
                  <a:srgbClr val="16A05D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67209-A63C-4809-86E5-843C136C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The wristband senses sudden motion, impact, stillness, and intentional shaking.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C9433-9D22-4D75-9072-FDA04A99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B3601-57EA-482F-8A15-2596B7C7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7A12E"/>
                </a:solidFill>
              </a:defRPr>
            </a:pPr>
            <a:r>
              <a:rPr sz="2025" b="1">
                <a:solidFill>
                  <a:srgbClr val="D7A12E"/>
                </a:solidFill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A6F7B-F767-4419-96D9-4842357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The LED matrix moves from green to yellow to red so anyone nearby understands the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91AA7-FE88-4291-B958-AE65E206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8EEDF-4216-4486-AEDB-A37A5BC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4A43"/>
                </a:solidFill>
              </a:defRPr>
            </a:pPr>
            <a:r>
              <a:rPr sz="2025" b="1">
                <a:solidFill>
                  <a:srgbClr val="D84A43"/>
                </a:solidFill>
              </a:rPr>
              <a:t>Relay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5DB54-AC18-4683-B4D6-C6F7E805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A caregiver board mirrors the color and serves a live web dashboard to a computer.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04924-29EC-4718-9A8A-AD11223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3</a:t>
            </a:r>
          </a:p>
        </p:txBody>
      </p:sp>
    </p:spTree>
    <p:extLst>
      <p:ext uri="{BB962C8B-B14F-4D97-AF65-F5344CB8AC3E}">
        <p14:creationId xmlns:p14="http://schemas.microsoft.com/office/powerpoint/2010/main" val="286064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E61F6-0BFE-49E6-8F95-3714EB09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The demo already proves the full loop.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5CB5E-1BA4-473B-A012-C5DE026D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One motion event becomes a caregiver-facing alert.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6A197-BE55-42AA-8D15-61FC67C9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0C388-3B8E-4761-B338-90086C09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9B197-0AE1-47DD-B18D-5A6EB54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719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1A"/>
                </a:solidFill>
              </a:defRPr>
            </a:pPr>
            <a:r>
              <a:rPr sz="1500" b="1">
                <a:solidFill>
                  <a:srgbClr val="14201A"/>
                </a:solidFill>
              </a:rPr>
              <a:t>Older adult falls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007D-D97D-413F-B708-8CBFA430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242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FBB29-53E3-4AFB-BE26-7E2785C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B5675-E40C-49F5-8FE3-27EB533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9F048-9C3C-4D46-8D1D-CEE5AC22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719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1A"/>
                </a:solidFill>
              </a:defRPr>
            </a:pPr>
            <a:r>
              <a:rPr sz="1500" b="1">
                <a:solidFill>
                  <a:srgbClr val="14201A"/>
                </a:solidFill>
              </a:rPr>
              <a:t>Wristband turns yellow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62B2E-A568-474C-A712-B9D03093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45EAE-2D6D-4425-8C1C-3BB323AB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594AD-6CE5-40CA-B42C-990D347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527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8BD2D-1A95-4CA2-8C2D-ED3134CF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719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1A"/>
                </a:solidFill>
              </a:defRPr>
            </a:pPr>
            <a:r>
              <a:rPr sz="1500" b="1">
                <a:solidFill>
                  <a:srgbClr val="14201A"/>
                </a:solidFill>
              </a:rPr>
              <a:t>Shake or no movement escalates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904EF-4246-4613-98EB-E9E5FE33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E7D88-FBBE-4E97-AB77-1B373DCB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89DE9-62C7-44D8-9572-0F213CEA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A0B54-04FB-41B7-AA88-53A51E39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1A"/>
                </a:solidFill>
              </a:defRPr>
            </a:pPr>
            <a:r>
              <a:rPr sz="1500" b="1">
                <a:solidFill>
                  <a:srgbClr val="14201A"/>
                </a:solidFill>
              </a:rPr>
              <a:t>Caregiver display mirrors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09570-FC92-4CC1-B5B8-4E15D587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29EB1-7A64-491B-A056-487B7C5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FE874-3A01-4053-869E-D5A39C5D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527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29CA0-8980-481D-B1A6-E8C1AAF5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1A"/>
                </a:solidFill>
              </a:defRPr>
            </a:pPr>
            <a:r>
              <a:rPr sz="1500" b="1">
                <a:solidFill>
                  <a:srgbClr val="14201A"/>
                </a:solidFill>
              </a:rPr>
              <a:t>Web dashboard logs the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E80DA-244B-4170-B162-C88B2109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4</a:t>
            </a:r>
          </a:p>
        </p:txBody>
      </p:sp>
    </p:spTree>
    <p:extLst>
      <p:ext uri="{BB962C8B-B14F-4D97-AF65-F5344CB8AC3E}">
        <p14:creationId xmlns:p14="http://schemas.microsoft.com/office/powerpoint/2010/main" val="59118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ECB9D-3A40-46C6-9AC8-C337F9BE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It is not another panic button.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2EBA-9159-4815-9DE5-6278A468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The product combines passive detection with active confirmation.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8BA3E-816C-45A7-B280-FDB3EAE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667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FBDF6-08AE-41AD-9F91-F497D9BD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05D"/>
                </a:solidFill>
              </a:defRPr>
            </a:pPr>
            <a:r>
              <a:rPr sz="2400" b="1">
                <a:solidFill>
                  <a:srgbClr val="16A05D"/>
                </a:solidFill>
              </a:rPr>
              <a:t>Passive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D2040-B7E8-481A-8A25-075BC5EC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352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01A"/>
                </a:solidFill>
              </a:defRPr>
            </a:pPr>
            <a:r>
              <a:rPr sz="1725" b="0">
                <a:solidFill>
                  <a:srgbClr val="14201A"/>
                </a:solidFill>
              </a:rPr>
              <a:t>A hard impact or 10 seconds of near-stillness can trigger escalation even if the person cannot speak or press anything.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FC03A-DE80-4A46-9F78-F0ADC055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667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8D9EC-456F-432D-A985-1B924FB7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84A43"/>
                </a:solidFill>
              </a:defRPr>
            </a:pPr>
            <a:r>
              <a:rPr sz="2400" b="1">
                <a:solidFill>
                  <a:srgbClr val="D84A43"/>
                </a:solidFill>
              </a:rPr>
              <a:t>Active rescue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7FDDE-BB76-42A1-B8A1-D8A85B0D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01A"/>
                </a:solidFill>
              </a:defRPr>
            </a:pPr>
            <a:r>
              <a:rPr sz="1725" b="0">
                <a:solidFill>
                  <a:srgbClr val="14201A"/>
                </a:solidFill>
              </a:rPr>
              <a:t>After a warning, a strong repeated shake becomes a deliberate signal: I need help now.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C987A-4197-488D-AA08-97F1733D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5</a:t>
            </a:r>
          </a:p>
        </p:txBody>
      </p:sp>
    </p:spTree>
    <p:extLst>
      <p:ext uri="{BB962C8B-B14F-4D97-AF65-F5344CB8AC3E}">
        <p14:creationId xmlns:p14="http://schemas.microsoft.com/office/powerpoint/2010/main" val="760223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3BCCE-B902-4BCC-87DC-15CE1F6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The first buyers are already worried.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472BE-4C5C-4C6D-A556-BD1CE550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ShakeCare fits the places where families and care teams need low-friction monitoring.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5DE96-1D54-4A81-85C0-43344D0C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DCAC1-AF1D-46B4-BA5F-BEA0F73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05D"/>
                </a:solidFill>
              </a:defRPr>
            </a:pPr>
            <a:r>
              <a:rPr sz="2025" b="1">
                <a:solidFill>
                  <a:srgbClr val="16A05D"/>
                </a:solidFill>
              </a:rPr>
              <a:t>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E039E-6DA9-4655-997E-BC096F12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Adult children caring for parents who live alone or spend time alone at home.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731B6-15E6-47FF-93E6-AE8D7CB1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BB38E-83BE-4C44-AEC9-D6D7A54B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7A12E"/>
                </a:solidFill>
              </a:defRPr>
            </a:pPr>
            <a:r>
              <a:rPr sz="2025" b="1">
                <a:solidFill>
                  <a:srgbClr val="D7A12E"/>
                </a:solidFill>
              </a:rPr>
              <a:t>Care homes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A8E5-1ACE-4078-9EF1-FCA9153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Staff who need room-level alerts without putting cameras into private spaces.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C57E-A347-4724-97EE-624D9A8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834CF-6DAE-433B-B688-1CC0BDFA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4A43"/>
                </a:solidFill>
              </a:defRPr>
            </a:pPr>
            <a:r>
              <a:rPr sz="2025" b="1">
                <a:solidFill>
                  <a:srgbClr val="D84A43"/>
                </a:solidFill>
              </a:rPr>
              <a:t>Community care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9212D-DAB8-4988-8F98-21B014F1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Local elder-care teams that need affordable safety devices for daily visits.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8CBB6-CC75-4276-9234-024031B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6</a:t>
            </a:r>
          </a:p>
        </p:txBody>
      </p:sp>
    </p:spTree>
    <p:extLst>
      <p:ext uri="{BB962C8B-B14F-4D97-AF65-F5344CB8AC3E}">
        <p14:creationId xmlns:p14="http://schemas.microsoft.com/office/powerpoint/2010/main" val="997894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5E220D-1DD2-46F1-B3BE-7FCD1FD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We sell the care loop, not the gadget.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62A2-A52C-4809-B859-116E6CC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Hardware gets ShakeCare onto the wrist. Service keeps people connected.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5018-8FA9-4591-96AD-BDEBE2F1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52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52160-A8F1-4753-A948-C9D9C453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Device sale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B6C0F-9F91-4EA5-81AB-FE177B15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A simple wearable and caregiver hub for families or institutions.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FD726-C61A-40EF-A5CB-36A35F7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52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CD0E3-344B-4FD0-8855-C806493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Monitoring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57F93-EBB9-4F18-A071-08FDF1E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Dashboards, logs, and escalation workflows for care teams.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C9420-9F34-4AFA-864F-2DBE29A1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63A94-63DC-4F4C-8E7A-304E9182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Service partners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B20DD-4527-4405-AF73-BF690DD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01A"/>
                </a:solidFill>
              </a:defRPr>
            </a:pPr>
            <a:r>
              <a:rPr sz="1500" b="0">
                <a:solidFill>
                  <a:srgbClr val="14201A"/>
                </a:solidFill>
              </a:rPr>
              <a:t>Insurance, home-care services, and community programs can bundle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C5C65-13DB-43C5-8628-7C69BDA0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7</a:t>
            </a:r>
          </a:p>
        </p:txBody>
      </p:sp>
    </p:spTree>
    <p:extLst>
      <p:ext uri="{BB962C8B-B14F-4D97-AF65-F5344CB8AC3E}">
        <p14:creationId xmlns:p14="http://schemas.microsoft.com/office/powerpoint/2010/main" val="1989838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FFDB94-41BE-49E9-A626-334AF06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1A"/>
                </a:solidFill>
              </a:defRPr>
            </a:pPr>
            <a:r>
              <a:rPr sz="3150" b="1">
                <a:solidFill>
                  <a:srgbClr val="14201A"/>
                </a:solidFill>
              </a:rPr>
              <a:t>The path to product is focused.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A22CF-449B-4F63-A3AC-5B3702E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68"/>
                </a:solidFill>
              </a:defRPr>
            </a:pPr>
            <a:r>
              <a:rPr sz="1575" b="0">
                <a:solidFill>
                  <a:srgbClr val="617168"/>
                </a:solidFill>
              </a:rPr>
              <a:t>Keep the alert loop small, then harden reliability.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2F1AD-2816-401A-A194-452488A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05D"/>
                </a:solidFill>
              </a:defRPr>
            </a:pPr>
            <a:r>
              <a:rPr sz="2250" b="1">
                <a:solidFill>
                  <a:srgbClr val="16A05D"/>
                </a:solidFill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EE687-139C-4052-B72C-AE8B5F4C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7239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9D749-8850-4793-9164-5EF721B4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01A"/>
                </a:solidFill>
              </a:defRPr>
            </a:pPr>
            <a:r>
              <a:rPr sz="1650" b="0">
                <a:solidFill>
                  <a:srgbClr val="14201A"/>
                </a:solidFill>
              </a:rPr>
              <a:t>Wristband prototype, caregiver board, live web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C7B66-541E-47C7-A03A-32BCC8FB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DA06A-B3CD-4E6C-BEAC-E5C65DAA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7239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D25C4-AE79-47C2-A885-15407B79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24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01A"/>
                </a:solidFill>
              </a:defRPr>
            </a:pPr>
            <a:r>
              <a:rPr sz="1650" b="0">
                <a:solidFill>
                  <a:srgbClr val="14201A"/>
                </a:solidFill>
              </a:rPr>
              <a:t>Reset button, battery pack, better enclosure, real wearing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B945C-0DEC-4500-B9BA-A504E522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CD2FD-4537-438F-8830-10079C8D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67150"/>
            <a:ext cx="7239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E3418-81F2-4EBD-8E12-45B0FAF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00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01A"/>
                </a:solidFill>
              </a:defRPr>
            </a:pPr>
            <a:r>
              <a:rPr sz="1650" b="0">
                <a:solidFill>
                  <a:srgbClr val="14201A"/>
                </a:solidFill>
              </a:rPr>
              <a:t>Care-home trial, false-alarm tuning, SMS or app notification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239A5-8008-4CB2-A4B0-06CC3351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A"/>
                </a:solidFill>
              </a:defRPr>
            </a:pPr>
            <a:r>
              <a:rPr sz="2250" b="1">
                <a:solidFill>
                  <a:srgbClr val="14201A"/>
                </a:solidFill>
              </a:rPr>
              <a:t>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13F4A-E7B7-43A4-9D79-DDEC435F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43450"/>
            <a:ext cx="7239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03A29-1D32-4C96-9B3D-9AF6EDE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01A"/>
                </a:solidFill>
              </a:defRPr>
            </a:pPr>
            <a:r>
              <a:rPr sz="1650" b="0">
                <a:solidFill>
                  <a:srgbClr val="14201A"/>
                </a:solidFill>
              </a:rPr>
              <a:t>Smaller wearable, charging dock, care-team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AE3B8-A631-4088-BAFB-A44DEF3E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68"/>
                </a:solidFill>
              </a:defRPr>
            </a:pPr>
            <a:r>
              <a:rPr sz="1050" b="0">
                <a:solidFill>
                  <a:srgbClr val="617168"/>
                </a:solidFill>
              </a:rPr>
              <a:t>ShakeCare  |  8</a:t>
            </a:r>
          </a:p>
        </p:txBody>
      </p:sp>
    </p:spTree>
    <p:extLst>
      <p:ext uri="{BB962C8B-B14F-4D97-AF65-F5344CB8AC3E}">
        <p14:creationId xmlns:p14="http://schemas.microsoft.com/office/powerpoint/2010/main" val="1216320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25321-C0A9-4DB5-A461-5C8AD5E3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876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201A"/>
                </a:solidFill>
              </a:defRPr>
            </a:pPr>
            <a:r>
              <a:rPr sz="3750" b="1">
                <a:solidFill>
                  <a:srgbClr val="14201A"/>
                </a:solidFill>
              </a:rPr>
              <a:t>We are asking for partners to test the moment that matters.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58D0B-E876-4AD1-B1C1-E07FC2C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68"/>
                </a:solidFill>
              </a:defRPr>
            </a:pPr>
            <a:r>
              <a:rPr sz="1875" b="0">
                <a:solidFill>
                  <a:srgbClr val="617168"/>
                </a:solidFill>
              </a:rPr>
              <a:t>Not a future hospital system. A practical first layer that helps families and caregivers see risk sooner.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F2160-0DEA-441A-A8BB-97EFFE8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786A5-96F2-4D00-85FB-1B699CF4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01A"/>
                </a:solidFill>
              </a:defRPr>
            </a:pPr>
            <a:r>
              <a:rPr sz="1950" b="1">
                <a:solidFill>
                  <a:srgbClr val="14201A"/>
                </a:solidFill>
              </a:rPr>
              <a:t>Test with real routines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59432-9947-4BFC-8735-2CA8153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84CE9-887D-4F63-91D0-AC68096E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01A"/>
                </a:solidFill>
              </a:defRPr>
            </a:pPr>
            <a:r>
              <a:rPr sz="1950" b="1">
                <a:solidFill>
                  <a:srgbClr val="14201A"/>
                </a:solidFill>
              </a:rPr>
              <a:t>Tune false alarms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9EA71-BD10-4633-804A-2209C0DD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B93A3-4F69-4567-92EC-4057FAA5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01A"/>
                </a:solidFill>
              </a:defRPr>
            </a:pPr>
            <a:r>
              <a:rPr sz="1950" b="1">
                <a:solidFill>
                  <a:srgbClr val="14201A"/>
                </a:solidFill>
              </a:rPr>
              <a:t>Build the care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91120-FA7B-4BD1-B939-55AD7279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05D"/>
                </a:solidFill>
              </a:defRPr>
            </a:pPr>
            <a:r>
              <a:rPr sz="3150" b="1">
                <a:solidFill>
                  <a:srgbClr val="16A05D"/>
                </a:solidFill>
              </a:rPr>
              <a:t>ShakeCare</a:t>
            </a:r>
          </a:p>
        </p:txBody>
      </p:sp>
    </p:spTree>
    <p:extLst>
      <p:ext uri="{BB962C8B-B14F-4D97-AF65-F5344CB8AC3E}">
        <p14:creationId xmlns:p14="http://schemas.microsoft.com/office/powerpoint/2010/main" val="1392498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2026-07-11T11:07:36.0060000Z</dcterms:created>
  <dcterms:modified xsi:type="dcterms:W3CDTF">2026-07-11T11:07:36.0060000Z</dcterms:modified>
</coreProperties>
</file>